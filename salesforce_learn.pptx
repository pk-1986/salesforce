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Override1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9" r:id="rId14"/>
    <p:sldId id="270" r:id="rId15"/>
    <p:sldId id="268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3" r:id="rId28"/>
    <p:sldId id="284" r:id="rId29"/>
    <p:sldId id="282" r:id="rId30"/>
    <p:sldId id="285" r:id="rId3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Administrator" id="{BD84DC79-335C-4548-BA95-F83A6AAF36B5}">
          <p14:sldIdLst>
            <p14:sldId id="256"/>
            <p14:sldId id="257"/>
            <p14:sldId id="258"/>
            <p14:sldId id="259"/>
            <p14:sldId id="260"/>
            <p14:sldId id="261"/>
            <p14:sldId id="262"/>
            <p14:sldId id="263"/>
            <p14:sldId id="264"/>
            <p14:sldId id="265"/>
            <p14:sldId id="266"/>
            <p14:sldId id="267"/>
            <p14:sldId id="269"/>
            <p14:sldId id="270"/>
            <p14:sldId id="268"/>
            <p14:sldId id="271"/>
          </p14:sldIdLst>
        </p14:section>
        <p14:section name="Development" id="{0FF2F471-2424-480C-BDAC-CA09356CE7EE}">
          <p14:sldIdLst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</p14:sldIdLst>
        </p14:section>
        <p14:section name="LWC" id="{B1186CF6-8641-495A-9829-864AC7EF0443}">
          <p14:sldIdLst>
            <p14:sldId id="283"/>
            <p14:sldId id="284"/>
            <p14:sldId id="282"/>
            <p14:sldId id="285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0" d="100"/>
          <a:sy n="70" d="100"/>
        </p:scale>
        <p:origin x="512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49CF37-A1AE-0479-1A7E-1B77628E586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DEAE9A7-4C73-A859-34C3-B9D6701DEA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F25F5AD-7DA2-0E4F-EE41-78D6B5C79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82A787C-DC3A-83A2-5DEC-7E08ED0908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988B0E-A8E8-09B0-C11B-4A81E9BDAE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0616392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73E5A7-532E-B479-7EA7-A9DDFA1E0B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A110B4-69D2-060A-1D68-EC9154416B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87A21D-8B91-409A-BB66-A56D5ADF17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E67B394-05E9-6B60-CA65-C5544FD757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4EC0E07-DD50-5ED8-9E9E-4204643F18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958491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6D5138-DAA7-305F-E5C5-58259A53A0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52F1FBC-5472-66E4-D947-8D6A535C8FC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61C5057-3A28-7550-4F4D-F924C10F67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8DBA85E-1D08-A56C-0A63-2D7E279436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FD5B1F5-DBC7-748A-C222-98B11C23FC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582255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19EF88-499B-7264-D9A8-7224A19DA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54E0A93-6A99-194B-06B6-64FFC17D1F7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018AC87-1FD2-87B0-8C47-5873C042129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028D0D5-21E5-CEEC-B10B-FC93DF6270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984C654-1EB0-ADEE-F722-3497A10D49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8FBE90A-F807-CF64-AA5A-3FFE476F5D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1088418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74ECB5-440A-B91F-2220-E8803E45BD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EEBA2BA-406E-CDCD-A9D0-E67C1BE4CF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2E2E240-7F19-8089-4DE2-45D0F51F852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F5CC77A-D352-BAF3-8879-974BE385EF9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B6CD2F7-74B6-CAA1-8963-BCE18F83477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32ED1D-DBD7-67D2-F97A-4639286F8B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DF2D9B2-59AD-A8B8-420A-779C94174A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711262B-1D62-272C-288C-6A2C77CD7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9130570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7C357A-ECFD-8C0F-78E2-6EE090BAE4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1CD9ED2-C480-E01C-F9D7-C683D09E9E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E69764D-47BC-0CBB-42D0-71D16A29ED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0F2675B-12D2-F71D-D472-D2140F2D7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9972050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678517B-31AA-350C-1012-870558BB8D7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CDFDF27-85B6-9789-45B5-4BB0EF467E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19F7FC-B1AE-714B-6552-3D5BD7ADFF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3609736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FE536B-5CF0-791E-159E-134294B32A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570BD82-F1F7-E381-FFDD-FF765F5410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83D9A36-728C-C5C3-FDD0-E3A8E52DF27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749B12-5A7D-E1DB-2120-95F5F9A450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FC6A5D6-DF5A-49C2-9104-F2F11404C7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48B38F6-04FE-7DBF-F22C-7883192558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2183722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C4DD74-EDE9-7EC5-FDCA-01E8F60FB6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A9300B8-07C1-2635-EC1E-E2C95B39BEE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F89D05A-2F25-FFE7-645B-764A8414158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09F7B26-6BD3-B0E3-6EA1-B1ECFBE706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2C93FE5-D534-E506-51FE-0EC1939599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EF7BC22-CE46-309F-7AF9-88B9C8E2F0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82246793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CA4C2-C1BB-4C47-9FEC-99DF4B4FB3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22BA51E7-4805-3F94-9727-4F33F416CFF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9AE7B7-6B00-CD2C-785B-BF546E2F5B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BA6170-CB66-F7E6-4302-2C06D15527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53A8596-DC1B-AA8D-497F-16C911211F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43957370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72C69D3-D3F8-0050-8B76-81EFC4FECE61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25100FCC-8363-D0A0-C72E-D535754DB77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2A7CB10-FECB-5FA3-8811-5C5105B667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824D8E4-F592-6B32-9387-12D9680D64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0B71589-E96C-2BB6-5A2E-7C767DD7E9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1282390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4E9AA89-B319-09F5-C717-D908114517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68D6351-C08E-17A9-5074-A7D8FDC10B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AB294B-F3AB-5363-396A-B1051A2B11A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E6F6509-3B82-4A7E-A3CF-5644AC4478D6}" type="datetimeFigureOut">
              <a:rPr lang="en-IN" smtClean="0"/>
              <a:t>03-11-2025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6602D8-E80A-BE46-8CF6-A3D7EA17224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DF83EEB-1748-B4FE-6A67-953ACFFC0F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56FFD1C-23C9-4542-BB85-7E3A97AAD8BE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656139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hemeOverride" Target="../theme/themeOverrid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127C49B-8B6F-4E80-3DCA-BF629AE5E9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1: Salesforce Overview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9E30203-7AEB-D35D-29D0-2DE6C19F7C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SalesforceSalesforce Overview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Introduction To Salesforce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Home Page Customization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User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And Customizing Tabs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Uploading A Company Logo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Company Information Page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System Overview Page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894284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6E18A93-166B-DEF7-B2A4-FC78B08B91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2: Sales Cloud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4EBBAE-8842-4C14-32A9-4872CA4475F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Sales Cloud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Sales Cloud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Leads Home Page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List Views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And Converting Leads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Accounts and Contacts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Email Templates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Products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Opportunities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Activities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 Lead Queue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An Auto-Response Rule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Campaigns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2081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BCFD53E-9723-DAE2-4EB9-98C8B9D070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3: Quote Templates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767A46-1DC5-E633-F66E-6595097FA13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Quote Templates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Quote Templates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 Quote Record ,Template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Generating A Quote PDF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Modifying Quote Templates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33053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702B5A7-088F-6720-C391-E0D5D52FA4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Module 4: Service Cloud</a:t>
            </a:r>
            <a:br>
              <a:rPr lang="en-US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BE34AEE-5CAC-86C9-2B57-3480C2DECDD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US" sz="1800">
                <a:solidFill>
                  <a:schemeClr val="tx2"/>
                </a:solidFill>
              </a:rPr>
              <a:t>● Introduction To Service Cloud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Service Cloud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Cases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Case Assignment Rules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Case Escalation Rules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Attaching Solutions To Cases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A Web-To-Case Form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An Email-To-Case Address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220263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50FD587-2234-6776-C2EF-626B7CEE90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Module 5: AppExchange</a:t>
            </a:r>
            <a:br>
              <a:rPr lang="en-US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70DC19A-F0A9-B95C-4EE3-8DD026AEA82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US" sz="1800">
                <a:solidFill>
                  <a:schemeClr val="tx2"/>
                </a:solidFill>
              </a:rPr>
              <a:t>● Introduction To AppExchange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Finding And Selecting An App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Finding A Developer,Consultant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813809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A1E5555-ACCA-8294-14D6-82EB94DF2D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Module 6: Reports</a:t>
            </a:r>
            <a:br>
              <a:rPr lang="en-US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FDA1D7-6E5E-C48C-7A34-63320D4CB9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US" sz="1800">
                <a:solidFill>
                  <a:schemeClr val="tx2"/>
                </a:solidFill>
              </a:rPr>
              <a:t>● Introduction To Reports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Understanding Report Formats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Creating A Leads Report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Adding Leads To A Campaign From A Report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Scheduling Reports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 Creating A Campaign Report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17363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2CF2B7C-97A8-DB23-A2D0-2CCA752F72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 dirty="0">
                <a:solidFill>
                  <a:schemeClr val="tx2"/>
                </a:solidFill>
              </a:rPr>
              <a:t>Module 7: Dashboards</a:t>
            </a:r>
            <a:br>
              <a:rPr lang="en-IN" sz="4800" b="1" dirty="0">
                <a:solidFill>
                  <a:schemeClr val="tx2"/>
                </a:solidFill>
              </a:rPr>
            </a:br>
            <a:endParaRPr lang="en-IN" sz="4800" dirty="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E2FF276-B1B3-5F35-A621-FEA4578790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 dirty="0">
                <a:solidFill>
                  <a:schemeClr val="tx2"/>
                </a:solidFill>
              </a:rPr>
              <a:t>● Introduction To Dashboards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Creating A Dashboard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Refreshing A Dashboard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Modifying Columns On Dashboards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Adding Filter To Dashboard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Managing Access To Reports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Adding A Report As A Dashboard Component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Setting Up Dynamic Dashboards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Enabling Dashboards For </a:t>
            </a:r>
            <a:r>
              <a:rPr lang="en-IN" sz="1800" dirty="0" err="1">
                <a:solidFill>
                  <a:schemeClr val="tx2"/>
                </a:solidFill>
              </a:rPr>
              <a:t>IPad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Modifying Report And Dashboard Interfaces</a:t>
            </a:r>
            <a:br>
              <a:rPr lang="en-IN" sz="1800" dirty="0">
                <a:solidFill>
                  <a:schemeClr val="tx2"/>
                </a:solidFill>
              </a:rPr>
            </a:br>
            <a:r>
              <a:rPr lang="en-IN" sz="1800" dirty="0">
                <a:solidFill>
                  <a:schemeClr val="tx2"/>
                </a:solidFill>
              </a:rPr>
              <a:t>● Activating The Report Builder On Profiles</a:t>
            </a:r>
          </a:p>
          <a:p>
            <a:endParaRPr lang="en-IN" sz="18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04964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4FA9E1F-FC1C-FCA3-FFBB-76C0B702EC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8: Chatter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574692-28D5-C247-9BF0-1CD410BFB84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 Introduction To Chatter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Enabling Chatter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Enabling Chatter Feeds On Records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Creating A Free Customer Chatter User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Customizing Chatter Email Notifications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Configuring Salesforce To Salesforce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Accepting A Salesforce Connection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Sharing An Account Via Salesforce To Salesforce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Enabling Ideas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Configuring Ideas Themes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 Enabling Social Accounts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266777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35883FC-B987-54EF-377C-18C0FDEB09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9: Role Hierarchy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DCB967C-7646-49B0-CC3E-920B6AF6EC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Role Hierarchy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Groups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Permission Sets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Assigning Roles To Users</a:t>
            </a:r>
          </a:p>
          <a:p>
            <a:endParaRPr lang="en-IN" sz="1800">
              <a:solidFill>
                <a:schemeClr val="tx2"/>
              </a:solidFill>
            </a:endParaRP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750955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03CDF0-D08A-5E83-C601-F0CF5FDAE2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10: Security Controls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725556-6F28-45A3-BE61-DB220130AB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Security Controls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Security Controls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Sharing Settings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Field Accessibility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Password Policies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Session Settings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Login Flows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Network Access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Activations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Session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Login Access Policies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Certificate And Key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Viewing Setup Audit Trail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Executing Expire All Passwords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Delegated Administration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Remote Site Settings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Named Credentials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File Upload And Download Security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431559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D1C57D-ADCC-C35B-6D71-67B7CE5226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11: Profiles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618BEA-88D9-5212-3738-1C2A07E7880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Profiles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Profiles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Standard Profiles Overview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Assigning Page Layouts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Field-Level Security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Custom App Settings And Access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Tab Settings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Record Type Settings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Administrative Permissions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General User Permissions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Standard Object Permissions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Custom Object Permissions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Password Policies And Session Timeout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Login Hours And IP Ranges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Enabling Apex And Visualforce Access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8507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2850BAB-7C0C-E53E-A4C4-3787380C52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12: Data Management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156F012-F44B-87C3-C096-9005BFD7ED9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Data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Data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Importing Leads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Importing Contacts And Accounts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Using Mass Delete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Installing Data Loader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Importing Records With Data Loader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Updating Records With Data Loader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Deleting Records With Data Loader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Exporting Records With Data Loader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Adding A Field In The Schema Builder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Scheduling A Data Export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And Using Sandbox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Mass Transferring Records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Reporting Snapshots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Working With Tags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020478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529CB9D-9A40-B3C1-1040-09F3041D6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Module 13: Workflow Rules</a:t>
            </a:r>
            <a:br>
              <a:rPr lang="en-US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18EA7C-9F1B-906A-0EF8-01975AD9487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US" sz="1800">
                <a:solidFill>
                  <a:schemeClr val="tx2"/>
                </a:solidFill>
              </a:rPr>
              <a:t>● Introduction To Workflow Rules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Workflow Rules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A Workflow Rule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A Workflow Rule Field Update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A Workflow Rule Task Assignment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Creating A Workflow Rule Email Alert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513926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2D86F77-C626-5CA9-D370-261858CC6B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14: Change Sets And Deployment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0AE7458-A36F-F1C7-C631-AC22A33CC10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Change Sets And Deployment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Change Sets And Deployment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Outbound Change Sets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Inbound Change Sets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Deployment Settings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Deployment Status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Eclipse IDE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379393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BA3CFA9-310C-D908-287D-8B6644A63E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IN" sz="4800">
                <a:solidFill>
                  <a:schemeClr val="bg1"/>
                </a:solidFill>
              </a:rPr>
              <a:t>Module 15: Communities</a:t>
            </a:r>
            <a:br>
              <a:rPr lang="en-IN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A2E511-7696-84AA-3246-550966D0F87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r>
              <a:rPr lang="en-IN" sz="1800">
                <a:solidFill>
                  <a:schemeClr val="tx2"/>
                </a:solidFill>
              </a:rPr>
              <a:t>● Introduction To Communities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Communities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Creating A New Community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Topic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Recommendations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Reputation Management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Adding Members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Managing Tabs And Branding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Login And Registration</a:t>
            </a:r>
            <a:br>
              <a:rPr lang="en-IN" sz="1800">
                <a:solidFill>
                  <a:schemeClr val="tx2"/>
                </a:solidFill>
              </a:rPr>
            </a:br>
            <a:r>
              <a:rPr lang="en-IN" sz="1800">
                <a:solidFill>
                  <a:schemeClr val="tx2"/>
                </a:solidFill>
              </a:rPr>
              <a:t>● Community Preferences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904273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FC6C873-861E-C490-635E-E6BDF5E4A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Module 16: Help And Training</a:t>
            </a:r>
            <a:br>
              <a:rPr lang="en-US" sz="4800" b="1">
                <a:solidFill>
                  <a:schemeClr val="bg1"/>
                </a:solidFill>
              </a:rPr>
            </a:br>
            <a:endParaRPr lang="en-IN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6F8EC8-656F-E3BC-49E0-5D21CC1B9B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fontAlgn="base"/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Introduction To Help And Training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Help And Training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Using Answers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Using Ideas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Searching For A Help Topic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Contacting Support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Trust Site</a:t>
            </a:r>
            <a:br>
              <a:rPr lang="en-US" sz="1800">
                <a:solidFill>
                  <a:schemeClr val="tx2"/>
                </a:solidFill>
              </a:rPr>
            </a:br>
            <a:r>
              <a:rPr lang="en-US" sz="1800">
                <a:solidFill>
                  <a:schemeClr val="tx2"/>
                </a:solidFill>
              </a:rPr>
              <a:t>● Known Issues</a:t>
            </a:r>
          </a:p>
          <a:p>
            <a:endParaRPr lang="en-IN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09140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E97927-5BC6-1C8A-4503-B491B1CC44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US">
                <a:solidFill>
                  <a:srgbClr val="FFFFFF"/>
                </a:solidFill>
              </a:rPr>
              <a:t>Module 1: Field Types</a:t>
            </a:r>
            <a:br>
              <a:rPr lang="en-US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90EB610-E3B5-99DC-7F3E-49CC217694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US" sz="2200"/>
              <a:t>● Introduction To Field Types</a:t>
            </a:r>
            <a:br>
              <a:rPr lang="en-US" sz="2200"/>
            </a:br>
            <a:r>
              <a:rPr lang="en-US" sz="2200"/>
              <a:t>● Field Types</a:t>
            </a:r>
            <a:br>
              <a:rPr lang="en-US" sz="2200"/>
            </a:br>
            <a:r>
              <a:rPr lang="en-US" sz="2200"/>
              <a:t>● Modifying Standard Fields</a:t>
            </a:r>
            <a:br>
              <a:rPr lang="en-US" sz="2200"/>
            </a:br>
            <a:r>
              <a:rPr lang="en-US" sz="2200"/>
              <a:t>● Creating Auto-Number Fields</a:t>
            </a:r>
            <a:br>
              <a:rPr lang="en-US" sz="2200"/>
            </a:br>
            <a:r>
              <a:rPr lang="en-US" sz="2200"/>
              <a:t>● Creating Formula Fields</a:t>
            </a:r>
            <a:br>
              <a:rPr lang="en-US" sz="2200"/>
            </a:br>
            <a:r>
              <a:rPr lang="en-US" sz="2200"/>
              <a:t>● Creating Roll-Up Summary Fields</a:t>
            </a:r>
            <a:br>
              <a:rPr lang="en-US" sz="2200"/>
            </a:br>
            <a:r>
              <a:rPr lang="en-US" sz="2200"/>
              <a:t>● Creating Lookup And Master Detail Fields</a:t>
            </a:r>
            <a:br>
              <a:rPr lang="en-US" sz="2200"/>
            </a:br>
            <a:r>
              <a:rPr lang="en-US" sz="2200"/>
              <a:t>● Creating Checkbox Fields</a:t>
            </a:r>
            <a:br>
              <a:rPr lang="en-US" sz="2200"/>
            </a:br>
            <a:r>
              <a:rPr lang="en-US" sz="2200"/>
              <a:t>● Creating Currency, Number, And Percent Fields</a:t>
            </a:r>
            <a:br>
              <a:rPr lang="en-US" sz="2200"/>
            </a:br>
            <a:r>
              <a:rPr lang="en-US" sz="2200"/>
              <a:t>● Creating Date Field And Date And Time Fields</a:t>
            </a:r>
            <a:br>
              <a:rPr lang="en-US" sz="2200"/>
            </a:br>
            <a:r>
              <a:rPr lang="en-US" sz="2200"/>
              <a:t>● Creating Phone And Email Fields</a:t>
            </a:r>
            <a:br>
              <a:rPr lang="en-US" sz="2200"/>
            </a:br>
            <a:r>
              <a:rPr lang="en-US" sz="2200"/>
              <a:t>● Creating Geolocation Fields</a:t>
            </a:r>
            <a:br>
              <a:rPr lang="en-US" sz="2200"/>
            </a:br>
            <a:r>
              <a:rPr lang="en-US" sz="2200"/>
              <a:t>● Creating Picklist And Multi-Select Picklist Fields</a:t>
            </a:r>
            <a:br>
              <a:rPr lang="en-US" sz="2200"/>
            </a:br>
            <a:r>
              <a:rPr lang="en-US" sz="2200"/>
              <a:t>● Creating Text And Text Area Fields</a:t>
            </a:r>
            <a:br>
              <a:rPr lang="en-US" sz="2200"/>
            </a:br>
            <a:r>
              <a:rPr lang="en-US" sz="2200"/>
              <a:t>● Creating Text Area Long And Text Area Rich Fields</a:t>
            </a:r>
            <a:br>
              <a:rPr lang="en-US" sz="2200"/>
            </a:br>
            <a:r>
              <a:rPr lang="en-US" sz="2200"/>
              <a:t>● Creating Encrypted Fields</a:t>
            </a:r>
            <a:br>
              <a:rPr lang="en-US" sz="2200"/>
            </a:br>
            <a:r>
              <a:rPr lang="en-US" sz="2200"/>
              <a:t>● Creating URL Fields</a:t>
            </a:r>
          </a:p>
          <a:p>
            <a:endParaRPr lang="en-IN" sz="2200"/>
          </a:p>
        </p:txBody>
      </p:sp>
    </p:spTree>
    <p:extLst>
      <p:ext uri="{BB962C8B-B14F-4D97-AF65-F5344CB8AC3E}">
        <p14:creationId xmlns:p14="http://schemas.microsoft.com/office/powerpoint/2010/main" val="14262702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7AA77F-3D22-FF0A-690B-5510A7E367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US">
                <a:solidFill>
                  <a:srgbClr val="FFFFFF"/>
                </a:solidFill>
              </a:rPr>
              <a:t>Module 2: Creating Buttons, Links, And Actions</a:t>
            </a:r>
            <a:br>
              <a:rPr lang="en-US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FC5C55-BF19-7A7C-9C3D-88EC48F02C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US" dirty="0"/>
              <a:t>● Introduction To Creating Buttons, Links, And Actions</a:t>
            </a:r>
            <a:br>
              <a:rPr lang="en-US" dirty="0"/>
            </a:br>
            <a:r>
              <a:rPr lang="en-US" dirty="0"/>
              <a:t>● Creating Buttons, Links, And Actions</a:t>
            </a:r>
            <a:br>
              <a:rPr lang="en-US" dirty="0"/>
            </a:br>
            <a:r>
              <a:rPr lang="en-US" dirty="0"/>
              <a:t>● Creating New Records With Actions</a:t>
            </a:r>
            <a:br>
              <a:rPr lang="en-US" dirty="0"/>
            </a:br>
            <a:r>
              <a:rPr lang="en-US" dirty="0"/>
              <a:t>● Logging A Call With Actions</a:t>
            </a:r>
            <a:br>
              <a:rPr lang="en-US" dirty="0"/>
            </a:br>
            <a:r>
              <a:rPr lang="en-US" dirty="0"/>
              <a:t>● Updating A Record With Actions</a:t>
            </a:r>
            <a:br>
              <a:rPr lang="en-US" dirty="0"/>
            </a:br>
            <a:r>
              <a:rPr lang="en-US" dirty="0"/>
              <a:t>● Creating Custom Buttons</a:t>
            </a:r>
            <a:br>
              <a:rPr lang="en-US" dirty="0"/>
            </a:br>
            <a:r>
              <a:rPr lang="en-US" dirty="0"/>
              <a:t>● Creating Custom Links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8198557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F3B02CE-E6C0-3B36-F487-DCCD454972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3: Salesforce Objects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2199CE-59C5-43D2-0834-012040DD548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br>
              <a:rPr lang="en-IN" dirty="0"/>
            </a:br>
            <a:r>
              <a:rPr lang="en-IN" dirty="0"/>
              <a:t>● Introduction To Salesforce Objects</a:t>
            </a:r>
            <a:br>
              <a:rPr lang="en-IN" dirty="0"/>
            </a:br>
            <a:r>
              <a:rPr lang="en-IN" dirty="0"/>
              <a:t>● Salesforce Objects</a:t>
            </a:r>
            <a:br>
              <a:rPr lang="en-IN" dirty="0"/>
            </a:br>
            <a:r>
              <a:rPr lang="en-IN" dirty="0"/>
              <a:t>● Standard Object Components</a:t>
            </a:r>
            <a:br>
              <a:rPr lang="en-IN" dirty="0"/>
            </a:br>
            <a:r>
              <a:rPr lang="en-IN" dirty="0"/>
              <a:t>● Renaming Standard Objects</a:t>
            </a:r>
            <a:br>
              <a:rPr lang="en-IN" dirty="0"/>
            </a:br>
            <a:r>
              <a:rPr lang="en-IN" dirty="0"/>
              <a:t>● Modifying Standard Objects</a:t>
            </a:r>
            <a:br>
              <a:rPr lang="en-IN" dirty="0"/>
            </a:br>
            <a:r>
              <a:rPr lang="en-IN" dirty="0"/>
              <a:t>● Understanding External Objects</a:t>
            </a:r>
            <a:br>
              <a:rPr lang="en-IN" dirty="0"/>
            </a:br>
            <a:r>
              <a:rPr lang="en-IN" dirty="0"/>
              <a:t>● Creating Custom Objects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72282886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33E63D1-95A3-BFC9-427A-62EFE6E0EC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4: Chatter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B36218-363C-A121-0C75-49E5648546A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IN" sz="2000"/>
              <a:t>● Introduction To Chatter</a:t>
            </a:r>
            <a:br>
              <a:rPr lang="en-IN" sz="2000"/>
            </a:br>
            <a:r>
              <a:rPr lang="en-IN" sz="2000"/>
              <a:t>● Chatter</a:t>
            </a:r>
            <a:br>
              <a:rPr lang="en-IN" sz="2000"/>
            </a:br>
            <a:r>
              <a:rPr lang="en-IN" sz="2000"/>
              <a:t>● Chatter Overview</a:t>
            </a:r>
            <a:br>
              <a:rPr lang="en-IN" sz="2000"/>
            </a:br>
            <a:r>
              <a:rPr lang="en-IN" sz="2000"/>
              <a:t>● Enabling Chatter</a:t>
            </a:r>
            <a:br>
              <a:rPr lang="en-IN" sz="2000"/>
            </a:br>
            <a:r>
              <a:rPr lang="en-IN" sz="2000"/>
              <a:t>● Enabling Chatter Feeds On Records</a:t>
            </a:r>
            <a:br>
              <a:rPr lang="en-IN" sz="2000"/>
            </a:br>
            <a:r>
              <a:rPr lang="en-IN" sz="2000"/>
              <a:t>● Configuring Chatter Groups</a:t>
            </a:r>
            <a:br>
              <a:rPr lang="en-IN" sz="2000"/>
            </a:br>
            <a:r>
              <a:rPr lang="en-IN" sz="2000"/>
              <a:t>● Creating Customer Groups</a:t>
            </a:r>
            <a:br>
              <a:rPr lang="en-IN" sz="2000"/>
            </a:br>
            <a:r>
              <a:rPr lang="en-IN" sz="2000"/>
              <a:t>● Creating A Free Customer Chatter User</a:t>
            </a:r>
            <a:br>
              <a:rPr lang="en-IN" sz="2000"/>
            </a:br>
            <a:r>
              <a:rPr lang="en-IN" sz="2000"/>
              <a:t>● Customizing Chatter Email Notifications</a:t>
            </a:r>
            <a:br>
              <a:rPr lang="en-IN" sz="2000"/>
            </a:br>
            <a:r>
              <a:rPr lang="en-IN" sz="2000"/>
              <a:t>● Configuring Salesforce To Salesforce</a:t>
            </a:r>
            <a:br>
              <a:rPr lang="en-IN" sz="2000"/>
            </a:br>
            <a:r>
              <a:rPr lang="en-IN" sz="2000"/>
              <a:t>● Accepting A Salesforce Connection</a:t>
            </a:r>
            <a:br>
              <a:rPr lang="en-IN" sz="2000"/>
            </a:br>
            <a:r>
              <a:rPr lang="en-IN" sz="2000"/>
              <a:t>● Sharing An Account Via Salesforce To Salesforce</a:t>
            </a:r>
            <a:br>
              <a:rPr lang="en-IN" sz="2000"/>
            </a:br>
            <a:r>
              <a:rPr lang="en-IN" sz="2000"/>
              <a:t>● Enabling Ideas</a:t>
            </a:r>
            <a:br>
              <a:rPr lang="en-IN" sz="2000"/>
            </a:br>
            <a:r>
              <a:rPr lang="en-IN" sz="2000"/>
              <a:t>● Configuring Ideas Themes</a:t>
            </a:r>
            <a:br>
              <a:rPr lang="en-IN" sz="2000"/>
            </a:br>
            <a:r>
              <a:rPr lang="en-IN" sz="2000"/>
              <a:t>● Enabling Social Accounts</a:t>
            </a:r>
            <a:br>
              <a:rPr lang="en-IN" sz="2000"/>
            </a:br>
            <a:r>
              <a:rPr lang="en-IN" sz="2000"/>
              <a:t>● Enabling Libraries And Content</a:t>
            </a:r>
            <a:br>
              <a:rPr lang="en-IN" sz="2000"/>
            </a:br>
            <a:r>
              <a:rPr lang="en-IN" sz="2000"/>
              <a:t>● Customizing Libraries And Content</a:t>
            </a:r>
            <a:br>
              <a:rPr lang="en-IN" sz="2000"/>
            </a:br>
            <a:r>
              <a:rPr lang="en-IN" sz="2000"/>
              <a:t>● Uploading Documents To Libraries And Content</a:t>
            </a:r>
            <a:br>
              <a:rPr lang="en-IN" sz="2000"/>
            </a:br>
            <a:r>
              <a:rPr lang="en-IN" sz="2000"/>
              <a:t>● Configuring Salesforce</a:t>
            </a:r>
          </a:p>
          <a:p>
            <a:endParaRPr lang="en-IN" sz="2000"/>
          </a:p>
        </p:txBody>
      </p:sp>
    </p:spTree>
    <p:extLst>
      <p:ext uri="{BB962C8B-B14F-4D97-AF65-F5344CB8AC3E}">
        <p14:creationId xmlns:p14="http://schemas.microsoft.com/office/powerpoint/2010/main" val="80716657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2F65C4-96EF-3330-6540-E502E16BD0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US" sz="3700">
                <a:solidFill>
                  <a:srgbClr val="FFFFFF"/>
                </a:solidFill>
              </a:rPr>
              <a:t>Module 5: Visual Workflow, Process Builder, And Schema Builder</a:t>
            </a:r>
            <a:br>
              <a:rPr lang="en-US" sz="3700" b="1">
                <a:solidFill>
                  <a:srgbClr val="FFFFFF"/>
                </a:solidFill>
              </a:rPr>
            </a:br>
            <a:endParaRPr lang="en-IN" sz="3700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3EC795A-A916-F5F7-4BFD-712C79DB76C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US" dirty="0"/>
              <a:t>● Introduction To Visual Workflow, Process Builder, And Schema Builder</a:t>
            </a:r>
            <a:br>
              <a:rPr lang="en-US" dirty="0"/>
            </a:br>
            <a:r>
              <a:rPr lang="en-US" dirty="0"/>
              <a:t>● Visual Workflow, Process Builder, And Schema Builder</a:t>
            </a:r>
            <a:br>
              <a:rPr lang="en-US" dirty="0"/>
            </a:br>
            <a:r>
              <a:rPr lang="en-US" dirty="0"/>
              <a:t>● Creating A Visual Flow</a:t>
            </a:r>
            <a:br>
              <a:rPr lang="en-US" dirty="0"/>
            </a:br>
            <a:r>
              <a:rPr lang="en-US" dirty="0"/>
              <a:t>● Modifying Existing Flows</a:t>
            </a:r>
            <a:br>
              <a:rPr lang="en-US" dirty="0"/>
            </a:br>
            <a:r>
              <a:rPr lang="en-US" dirty="0"/>
              <a:t>● Creating A Process In The Process Builder</a:t>
            </a:r>
            <a:br>
              <a:rPr lang="en-US" dirty="0"/>
            </a:br>
            <a:r>
              <a:rPr lang="en-US" dirty="0"/>
              <a:t>● Creating Fields In The Schema Builder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5114878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E92C77-2964-B93A-4430-628518EF63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6: Security Controls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77266A7-6470-280B-F615-03CC7AA5D60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IN" sz="2000"/>
              <a:t>● Introduction To Security Controls</a:t>
            </a:r>
            <a:br>
              <a:rPr lang="en-IN" sz="2000"/>
            </a:br>
            <a:r>
              <a:rPr lang="en-IN" sz="2000"/>
              <a:t>● Security Controls</a:t>
            </a:r>
            <a:br>
              <a:rPr lang="en-IN" sz="2000"/>
            </a:br>
            <a:r>
              <a:rPr lang="en-IN" sz="2000"/>
              <a:t>● Viewing Object Security</a:t>
            </a:r>
            <a:br>
              <a:rPr lang="en-IN" sz="2000"/>
            </a:br>
            <a:r>
              <a:rPr lang="en-IN" sz="2000"/>
              <a:t>● Changing Default Record Access</a:t>
            </a:r>
            <a:br>
              <a:rPr lang="en-IN" sz="2000"/>
            </a:br>
            <a:r>
              <a:rPr lang="en-IN" sz="2000"/>
              <a:t>● Sharing Settings</a:t>
            </a:r>
            <a:br>
              <a:rPr lang="en-IN" sz="2000"/>
            </a:br>
            <a:r>
              <a:rPr lang="en-IN" sz="2000"/>
              <a:t>● Field Accessibility</a:t>
            </a:r>
            <a:br>
              <a:rPr lang="en-IN" sz="2000"/>
            </a:br>
            <a:r>
              <a:rPr lang="en-IN" sz="2000"/>
              <a:t>● Password Policies</a:t>
            </a:r>
            <a:br>
              <a:rPr lang="en-IN" sz="2000"/>
            </a:br>
            <a:r>
              <a:rPr lang="en-IN" sz="2000"/>
              <a:t>● Session Settings</a:t>
            </a:r>
            <a:br>
              <a:rPr lang="en-IN" sz="2000"/>
            </a:br>
            <a:r>
              <a:rPr lang="en-IN" sz="2000"/>
              <a:t>● Login Flows</a:t>
            </a:r>
            <a:br>
              <a:rPr lang="en-IN" sz="2000"/>
            </a:br>
            <a:r>
              <a:rPr lang="en-IN" sz="2000"/>
              <a:t>● Network Access</a:t>
            </a:r>
            <a:br>
              <a:rPr lang="en-IN" sz="2000"/>
            </a:br>
            <a:r>
              <a:rPr lang="en-IN" sz="2000"/>
              <a:t>● Activations</a:t>
            </a:r>
            <a:br>
              <a:rPr lang="en-IN" sz="2000"/>
            </a:br>
            <a:r>
              <a:rPr lang="en-IN" sz="2000"/>
              <a:t>● Session Management</a:t>
            </a:r>
            <a:br>
              <a:rPr lang="en-IN" sz="2000"/>
            </a:br>
            <a:r>
              <a:rPr lang="en-IN" sz="2000"/>
              <a:t>● Login Access Policies</a:t>
            </a:r>
            <a:br>
              <a:rPr lang="en-IN" sz="2000"/>
            </a:br>
            <a:r>
              <a:rPr lang="en-IN" sz="2000"/>
              <a:t>● Certificate And Key Management</a:t>
            </a:r>
            <a:br>
              <a:rPr lang="en-IN" sz="2000"/>
            </a:br>
            <a:r>
              <a:rPr lang="en-IN" sz="2000"/>
              <a:t>● Viewing Setup Audit Trail</a:t>
            </a:r>
            <a:br>
              <a:rPr lang="en-IN" sz="2000"/>
            </a:br>
            <a:r>
              <a:rPr lang="en-IN" sz="2000"/>
              <a:t>● Executing Expire All Passwords</a:t>
            </a:r>
            <a:br>
              <a:rPr lang="en-IN" sz="2000"/>
            </a:br>
            <a:r>
              <a:rPr lang="en-IN" sz="2000"/>
              <a:t>● Delegated Administration</a:t>
            </a:r>
            <a:br>
              <a:rPr lang="en-IN" sz="2000"/>
            </a:br>
            <a:r>
              <a:rPr lang="en-IN" sz="2000"/>
              <a:t>● Remote Site Settings</a:t>
            </a:r>
            <a:br>
              <a:rPr lang="en-IN" sz="2000"/>
            </a:br>
            <a:r>
              <a:rPr lang="en-IN" sz="2000"/>
              <a:t>● Named Credentials</a:t>
            </a:r>
            <a:br>
              <a:rPr lang="en-IN" sz="2000"/>
            </a:br>
            <a:r>
              <a:rPr lang="en-IN" sz="2000"/>
              <a:t>● File Upload And Download Security</a:t>
            </a:r>
          </a:p>
          <a:p>
            <a:endParaRPr lang="en-IN" sz="2000"/>
          </a:p>
        </p:txBody>
      </p:sp>
    </p:spTree>
    <p:extLst>
      <p:ext uri="{BB962C8B-B14F-4D97-AF65-F5344CB8AC3E}">
        <p14:creationId xmlns:p14="http://schemas.microsoft.com/office/powerpoint/2010/main" val="41170051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D7C405-7E56-07BF-D45A-B71DBFCE96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7: Validation Rules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94570B3-EC88-BB45-7346-E455E050FEE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IN" dirty="0"/>
              <a:t>● Introduction To Validation Rules</a:t>
            </a:r>
            <a:br>
              <a:rPr lang="en-IN" dirty="0"/>
            </a:br>
            <a:r>
              <a:rPr lang="en-IN" dirty="0"/>
              <a:t>● Validation Rules</a:t>
            </a:r>
            <a:br>
              <a:rPr lang="en-IN" dirty="0"/>
            </a:br>
            <a:r>
              <a:rPr lang="en-IN" dirty="0"/>
              <a:t>● Creating Validation Rules</a:t>
            </a:r>
            <a:br>
              <a:rPr lang="en-IN" dirty="0"/>
            </a:br>
            <a:r>
              <a:rPr lang="en-IN" dirty="0"/>
              <a:t>● Creating Formulas</a:t>
            </a:r>
            <a:br>
              <a:rPr lang="en-IN" dirty="0"/>
            </a:br>
            <a:r>
              <a:rPr lang="en-IN" dirty="0"/>
              <a:t>● Creating Error Messages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1517667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8EBC4DE-9D61-793B-89D8-4940A73A45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8: Data Management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91631E8-7F5C-381B-9DE3-50845ED0D5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IN" sz="2400"/>
              <a:t>● Introduction To Data Management</a:t>
            </a:r>
            <a:br>
              <a:rPr lang="en-IN" sz="2400"/>
            </a:br>
            <a:r>
              <a:rPr lang="en-IN" sz="2400"/>
              <a:t>● Data Management</a:t>
            </a:r>
            <a:br>
              <a:rPr lang="en-IN" sz="2400"/>
            </a:br>
            <a:r>
              <a:rPr lang="en-IN" sz="2400"/>
              <a:t>● Importing Leads</a:t>
            </a:r>
            <a:br>
              <a:rPr lang="en-IN" sz="2400"/>
            </a:br>
            <a:r>
              <a:rPr lang="en-IN" sz="2400"/>
              <a:t>● Importing Contacts And Accounts</a:t>
            </a:r>
            <a:br>
              <a:rPr lang="en-IN" sz="2400"/>
            </a:br>
            <a:r>
              <a:rPr lang="en-IN" sz="2400"/>
              <a:t>● Using Mass Delete</a:t>
            </a:r>
            <a:br>
              <a:rPr lang="en-IN" sz="2400"/>
            </a:br>
            <a:r>
              <a:rPr lang="en-IN" sz="2400"/>
              <a:t>● Installing Data Loader</a:t>
            </a:r>
            <a:br>
              <a:rPr lang="en-IN" sz="2400"/>
            </a:br>
            <a:r>
              <a:rPr lang="en-IN" sz="2400"/>
              <a:t>● Importing Records With Data Loader</a:t>
            </a:r>
            <a:br>
              <a:rPr lang="en-IN" sz="2400"/>
            </a:br>
            <a:r>
              <a:rPr lang="en-IN" sz="2400"/>
              <a:t>● Updating Records With Data Loader</a:t>
            </a:r>
            <a:br>
              <a:rPr lang="en-IN" sz="2400"/>
            </a:br>
            <a:r>
              <a:rPr lang="en-IN" sz="2400"/>
              <a:t>● Deleting Records With Data Loader</a:t>
            </a:r>
            <a:br>
              <a:rPr lang="en-IN" sz="2400"/>
            </a:br>
            <a:r>
              <a:rPr lang="en-IN" sz="2400"/>
              <a:t>● Exporting Records With Data Loader</a:t>
            </a:r>
            <a:br>
              <a:rPr lang="en-IN" sz="2400"/>
            </a:br>
            <a:r>
              <a:rPr lang="en-IN" sz="2400"/>
              <a:t>● Adding A Field In The Schema Builder</a:t>
            </a:r>
            <a:br>
              <a:rPr lang="en-IN" sz="2400"/>
            </a:br>
            <a:r>
              <a:rPr lang="en-IN" sz="2400"/>
              <a:t>● Scheduling A Data Export</a:t>
            </a:r>
            <a:br>
              <a:rPr lang="en-IN" sz="2400"/>
            </a:br>
            <a:r>
              <a:rPr lang="en-IN" sz="2400"/>
              <a:t>● Creating And Using Sandbox</a:t>
            </a:r>
            <a:br>
              <a:rPr lang="en-IN" sz="2400"/>
            </a:br>
            <a:r>
              <a:rPr lang="en-IN" sz="2400"/>
              <a:t>● Mass Transferring Records</a:t>
            </a:r>
            <a:br>
              <a:rPr lang="en-IN" sz="2400"/>
            </a:br>
            <a:r>
              <a:rPr lang="en-IN" sz="2400"/>
              <a:t>● Reporting Snapshots</a:t>
            </a:r>
            <a:br>
              <a:rPr lang="en-IN" sz="2400"/>
            </a:br>
            <a:r>
              <a:rPr lang="en-IN" sz="2400"/>
              <a:t>● Working With Tags</a:t>
            </a:r>
          </a:p>
          <a:p>
            <a:endParaRPr lang="en-IN" sz="2400"/>
          </a:p>
        </p:txBody>
      </p:sp>
    </p:spTree>
    <p:extLst>
      <p:ext uri="{BB962C8B-B14F-4D97-AF65-F5344CB8AC3E}">
        <p14:creationId xmlns:p14="http://schemas.microsoft.com/office/powerpoint/2010/main" val="93123142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2509B46-5D3C-CBC2-4687-B8ED56D34F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US">
                <a:solidFill>
                  <a:srgbClr val="FFFFFF"/>
                </a:solidFill>
              </a:rPr>
              <a:t>Module 9: Reports</a:t>
            </a:r>
            <a:br>
              <a:rPr lang="en-US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8B68ED-AF00-841B-9325-576906584F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r>
              <a:rPr lang="en-US" dirty="0"/>
              <a:t>● Introduction To Reports</a:t>
            </a:r>
            <a:br>
              <a:rPr lang="en-US" dirty="0"/>
            </a:br>
            <a:r>
              <a:rPr lang="en-US" dirty="0"/>
              <a:t>● Reports</a:t>
            </a:r>
            <a:br>
              <a:rPr lang="en-US" dirty="0"/>
            </a:br>
            <a:r>
              <a:rPr lang="en-US" dirty="0"/>
              <a:t>● Understanding Report Formats</a:t>
            </a:r>
            <a:br>
              <a:rPr lang="en-US" dirty="0"/>
            </a:br>
            <a:r>
              <a:rPr lang="en-US" dirty="0"/>
              <a:t>● Creating A Leads Report</a:t>
            </a:r>
            <a:br>
              <a:rPr lang="en-US" dirty="0"/>
            </a:br>
            <a:r>
              <a:rPr lang="en-US" dirty="0"/>
              <a:t>● Creating Contacts And Accounts Report</a:t>
            </a:r>
            <a:br>
              <a:rPr lang="en-US" dirty="0"/>
            </a:br>
            <a:r>
              <a:rPr lang="en-US" dirty="0"/>
              <a:t>● Creating An Opportunity Report</a:t>
            </a:r>
            <a:br>
              <a:rPr lang="en-US" dirty="0"/>
            </a:br>
            <a:r>
              <a:rPr lang="en-US" dirty="0"/>
              <a:t>● Adding Leads To A Campaign From A Report</a:t>
            </a:r>
            <a:br>
              <a:rPr lang="en-US" dirty="0"/>
            </a:br>
            <a:r>
              <a:rPr lang="en-US" dirty="0"/>
              <a:t>● Creating A Report Chart</a:t>
            </a:r>
            <a:br>
              <a:rPr lang="en-US" dirty="0"/>
            </a:br>
            <a:r>
              <a:rPr lang="en-US" dirty="0"/>
              <a:t>● Scheduling Reports</a:t>
            </a:r>
            <a:br>
              <a:rPr lang="en-US" dirty="0"/>
            </a:br>
            <a:r>
              <a:rPr lang="en-US" dirty="0"/>
              <a:t>● Creating A Campaign Report</a:t>
            </a:r>
            <a:br>
              <a:rPr lang="en-US" dirty="0"/>
            </a:br>
            <a:r>
              <a:rPr lang="en-US" dirty="0"/>
              <a:t>● Summarizing Report Data</a:t>
            </a:r>
            <a:br>
              <a:rPr lang="en-US" dirty="0"/>
            </a:br>
            <a:r>
              <a:rPr lang="en-US" dirty="0"/>
              <a:t>● Creating A Report Formula</a:t>
            </a:r>
            <a:br>
              <a:rPr lang="en-US" dirty="0"/>
            </a:br>
            <a:r>
              <a:rPr lang="en-US" dirty="0"/>
              <a:t>● Exporting Reports To Excel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5453730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38CD90-0A48-DAD4-2A48-BEB7747738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10: Dashboards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564963D-6696-5454-6863-C8F4411EB4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anchor="ctr">
            <a:normAutofit/>
          </a:bodyPr>
          <a:lstStyle/>
          <a:p>
            <a:pPr fontAlgn="base"/>
            <a:br>
              <a:rPr lang="en-IN" sz="2400"/>
            </a:br>
            <a:r>
              <a:rPr lang="en-IN" sz="2400"/>
              <a:t>● Introduction To Dashboards</a:t>
            </a:r>
            <a:br>
              <a:rPr lang="en-IN" sz="2400"/>
            </a:br>
            <a:r>
              <a:rPr lang="en-IN" sz="2400"/>
              <a:t>● Dashboards</a:t>
            </a:r>
            <a:br>
              <a:rPr lang="en-IN" sz="2400"/>
            </a:br>
            <a:r>
              <a:rPr lang="en-IN" sz="2400"/>
              <a:t>● Understanding Dashboard Components</a:t>
            </a:r>
            <a:br>
              <a:rPr lang="en-IN" sz="2400"/>
            </a:br>
            <a:r>
              <a:rPr lang="en-IN" sz="2400"/>
              <a:t>● Creating A Dashboard</a:t>
            </a:r>
            <a:br>
              <a:rPr lang="en-IN" sz="2400"/>
            </a:br>
            <a:r>
              <a:rPr lang="en-IN" sz="2400"/>
              <a:t>● Refreshing A Dashboard</a:t>
            </a:r>
            <a:br>
              <a:rPr lang="en-IN" sz="2400"/>
            </a:br>
            <a:r>
              <a:rPr lang="en-IN" sz="2400"/>
              <a:t>● Modifying Columns On Dashboards</a:t>
            </a:r>
            <a:br>
              <a:rPr lang="en-IN" sz="2400"/>
            </a:br>
            <a:r>
              <a:rPr lang="en-IN" sz="2400"/>
              <a:t>● Adding Filter To Dashboard</a:t>
            </a:r>
            <a:br>
              <a:rPr lang="en-IN" sz="2400"/>
            </a:br>
            <a:r>
              <a:rPr lang="en-IN" sz="2400"/>
              <a:t>● Managing Access To Reports</a:t>
            </a:r>
            <a:br>
              <a:rPr lang="en-IN" sz="2400"/>
            </a:br>
            <a:r>
              <a:rPr lang="en-IN" sz="2400"/>
              <a:t>● Adding A Report As A Dashboard Component</a:t>
            </a:r>
            <a:br>
              <a:rPr lang="en-IN" sz="2400"/>
            </a:br>
            <a:r>
              <a:rPr lang="en-IN" sz="2400"/>
              <a:t>● Setting Up Dynamic Dashboards</a:t>
            </a:r>
            <a:br>
              <a:rPr lang="en-IN" sz="2400"/>
            </a:br>
            <a:r>
              <a:rPr lang="en-IN" sz="2400"/>
              <a:t>● Enabling Dashboards For </a:t>
            </a:r>
            <a:r>
              <a:rPr lang="en-IN" sz="2400" err="1"/>
              <a:t>IPad</a:t>
            </a:r>
            <a:br>
              <a:rPr lang="en-IN" sz="2400"/>
            </a:br>
            <a:r>
              <a:rPr lang="en-IN" sz="2400"/>
              <a:t>● Modifying Report And Dashboard Interfaces</a:t>
            </a:r>
            <a:br>
              <a:rPr lang="en-IN" sz="2400"/>
            </a:br>
            <a:r>
              <a:rPr lang="en-IN" sz="2400"/>
              <a:t>● Activating The Report Builder On Profiles</a:t>
            </a:r>
          </a:p>
          <a:p>
            <a:endParaRPr lang="en-IN" sz="2400"/>
          </a:p>
        </p:txBody>
      </p:sp>
    </p:spTree>
    <p:extLst>
      <p:ext uri="{BB962C8B-B14F-4D97-AF65-F5344CB8AC3E}">
        <p14:creationId xmlns:p14="http://schemas.microsoft.com/office/powerpoint/2010/main" val="289769234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2554CA6-288E-4202-BC52-2E5A8F0C0A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10BB131-AC8E-4A8E-A5D1-36260F720C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9189" y="1119031"/>
            <a:ext cx="4619938" cy="461993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C26B33-3C83-EC85-5622-40B1482170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1074" y="1396686"/>
            <a:ext cx="3240506" cy="4064628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11: Lightning Components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5B7778FC-632E-4DCA-A7CB-0D7731CCF9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9809111">
            <a:off x="8683720" y="941148"/>
            <a:ext cx="2987899" cy="2987899"/>
          </a:xfrm>
          <a:prstGeom prst="arc">
            <a:avLst>
              <a:gd name="adj1" fmla="val 15817365"/>
              <a:gd name="adj2" fmla="val 178138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A23A907-97FB-4A8F-880A-DD77401C42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10048" y="4780992"/>
            <a:ext cx="546100" cy="546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1342F4-D3D1-4E77-F2CD-109F1027F4D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70153" y="1526033"/>
            <a:ext cx="5536397" cy="3935281"/>
          </a:xfrm>
        </p:spPr>
        <p:txBody>
          <a:bodyPr>
            <a:normAutofit/>
          </a:bodyPr>
          <a:lstStyle/>
          <a:p>
            <a:pPr fontAlgn="base"/>
            <a:r>
              <a:rPr lang="en-IN" dirty="0"/>
              <a:t>● Introduction To Lightning Components</a:t>
            </a:r>
            <a:br>
              <a:rPr lang="en-IN" dirty="0"/>
            </a:br>
            <a:r>
              <a:rPr lang="en-IN" dirty="0"/>
              <a:t>● Lightning Components</a:t>
            </a:r>
            <a:br>
              <a:rPr lang="en-IN" dirty="0"/>
            </a:br>
            <a:r>
              <a:rPr lang="en-IN" dirty="0"/>
              <a:t>● Installing Lightning Components</a:t>
            </a:r>
            <a:br>
              <a:rPr lang="en-IN" dirty="0"/>
            </a:br>
            <a:r>
              <a:rPr lang="en-IN" dirty="0"/>
              <a:t>● Lightning Component Capabilities</a:t>
            </a:r>
            <a:br>
              <a:rPr lang="en-IN" dirty="0"/>
            </a:br>
            <a:r>
              <a:rPr lang="en-IN" dirty="0"/>
              <a:t>● Lightning Components Vs. Visualforce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76230534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2554CA6-288E-4202-BC52-2E5A8F0C0A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10BB131-AC8E-4A8E-A5D1-36260F720C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9189" y="1119031"/>
            <a:ext cx="4619938" cy="461993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FE0E58-0414-005E-EFBA-B0DC6CDC5A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1074" y="1396686"/>
            <a:ext cx="3240506" cy="4064628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12: User Interface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5B7778FC-632E-4DCA-A7CB-0D7731CCF9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9809111">
            <a:off x="8683720" y="941148"/>
            <a:ext cx="2987899" cy="2987899"/>
          </a:xfrm>
          <a:prstGeom prst="arc">
            <a:avLst>
              <a:gd name="adj1" fmla="val 15817365"/>
              <a:gd name="adj2" fmla="val 178138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A23A907-97FB-4A8F-880A-DD77401C42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10048" y="4780992"/>
            <a:ext cx="546100" cy="546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673135D-A2C6-5B18-8E26-DA967CCDBB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70153" y="1526033"/>
            <a:ext cx="5536397" cy="3935281"/>
          </a:xfrm>
        </p:spPr>
        <p:txBody>
          <a:bodyPr>
            <a:normAutofit/>
          </a:bodyPr>
          <a:lstStyle/>
          <a:p>
            <a:pPr fontAlgn="base"/>
            <a:r>
              <a:rPr lang="en-IN" dirty="0"/>
              <a:t>● Introduction To User Interface</a:t>
            </a:r>
            <a:br>
              <a:rPr lang="en-IN" dirty="0"/>
            </a:br>
            <a:r>
              <a:rPr lang="en-IN" dirty="0"/>
              <a:t>● User Interface</a:t>
            </a:r>
            <a:br>
              <a:rPr lang="en-IN" dirty="0"/>
            </a:br>
            <a:r>
              <a:rPr lang="en-IN" dirty="0"/>
              <a:t>● User Interface General Options</a:t>
            </a:r>
            <a:br>
              <a:rPr lang="en-IN" dirty="0"/>
            </a:br>
            <a:r>
              <a:rPr lang="en-IN" dirty="0"/>
              <a:t>● User Interface Sidebar Options</a:t>
            </a:r>
            <a:br>
              <a:rPr lang="en-IN" dirty="0"/>
            </a:br>
            <a:r>
              <a:rPr lang="en-IN" dirty="0"/>
              <a:t>● User Interface Calendar Options</a:t>
            </a:r>
            <a:br>
              <a:rPr lang="en-IN" dirty="0"/>
            </a:br>
            <a:r>
              <a:rPr lang="en-IN" dirty="0"/>
              <a:t>● User Interface Name Settings</a:t>
            </a:r>
            <a:br>
              <a:rPr lang="en-IN" dirty="0"/>
            </a:br>
            <a:r>
              <a:rPr lang="en-IN" dirty="0"/>
              <a:t>● User Interface Setup Options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82615342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2554CA6-288E-4202-BC52-2E5A8F0C0A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10BB131-AC8E-4A8E-A5D1-36260F720C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9189" y="1119031"/>
            <a:ext cx="4619938" cy="461993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1DCDEAF-8F1E-54F1-579F-A5D38BCF9C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1074" y="1396686"/>
            <a:ext cx="3240506" cy="4064628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13: Application Life Cycles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5B7778FC-632E-4DCA-A7CB-0D7731CCF9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9809111">
            <a:off x="8683720" y="941148"/>
            <a:ext cx="2987899" cy="2987899"/>
          </a:xfrm>
          <a:prstGeom prst="arc">
            <a:avLst>
              <a:gd name="adj1" fmla="val 15817365"/>
              <a:gd name="adj2" fmla="val 178138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A23A907-97FB-4A8F-880A-DD77401C42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10048" y="4780992"/>
            <a:ext cx="546100" cy="546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C0AB0F-0CA4-EC68-FE42-B0471AD9CB0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70153" y="1526033"/>
            <a:ext cx="5536397" cy="3935281"/>
          </a:xfrm>
        </p:spPr>
        <p:txBody>
          <a:bodyPr>
            <a:normAutofit/>
          </a:bodyPr>
          <a:lstStyle/>
          <a:p>
            <a:pPr fontAlgn="base"/>
            <a:r>
              <a:rPr lang="en-IN" dirty="0"/>
              <a:t>● Introduction To Application Life Cycles</a:t>
            </a:r>
            <a:br>
              <a:rPr lang="en-IN" dirty="0"/>
            </a:br>
            <a:r>
              <a:rPr lang="en-IN" dirty="0"/>
              <a:t>● Application Life Cycles</a:t>
            </a:r>
            <a:br>
              <a:rPr lang="en-IN" dirty="0"/>
            </a:br>
            <a:r>
              <a:rPr lang="en-IN" dirty="0"/>
              <a:t>● Key Milestones And Considerations</a:t>
            </a:r>
            <a:br>
              <a:rPr lang="en-IN" dirty="0"/>
            </a:br>
            <a:r>
              <a:rPr lang="en-IN" dirty="0"/>
              <a:t>● Using Sandboxes For Development</a:t>
            </a:r>
            <a:br>
              <a:rPr lang="en-IN" dirty="0"/>
            </a:br>
            <a:r>
              <a:rPr lang="en-IN" dirty="0"/>
              <a:t>● Using Change Sets</a:t>
            </a:r>
            <a:br>
              <a:rPr lang="en-IN" dirty="0"/>
            </a:br>
            <a:r>
              <a:rPr lang="en-IN" dirty="0"/>
              <a:t>● Using Unmanaged Packages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0076094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2554CA6-288E-4202-BC52-2E5A8F0C0A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10BB131-AC8E-4A8E-A5D1-36260F720C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9189" y="1119031"/>
            <a:ext cx="4619938" cy="461993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91B9F02-2844-096A-CE69-445BFF572C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1074" y="1396686"/>
            <a:ext cx="3240506" cy="4064628"/>
          </a:xfrm>
        </p:spPr>
        <p:txBody>
          <a:bodyPr>
            <a:normAutofit/>
          </a:bodyPr>
          <a:lstStyle/>
          <a:p>
            <a:r>
              <a:rPr lang="en-IN">
                <a:solidFill>
                  <a:srgbClr val="FFFFFF"/>
                </a:solidFill>
              </a:rPr>
              <a:t>Module 14: Change Sets And Deployment</a:t>
            </a:r>
            <a:br>
              <a:rPr lang="en-IN" b="1">
                <a:solidFill>
                  <a:srgbClr val="FFFFFF"/>
                </a:solidFill>
              </a:rPr>
            </a:br>
            <a:endParaRPr lang="en-IN">
              <a:solidFill>
                <a:srgbClr val="FFFFFF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5B7778FC-632E-4DCA-A7CB-0D7731CCF9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9809111">
            <a:off x="8683720" y="941148"/>
            <a:ext cx="2987899" cy="2987899"/>
          </a:xfrm>
          <a:prstGeom prst="arc">
            <a:avLst>
              <a:gd name="adj1" fmla="val 15817365"/>
              <a:gd name="adj2" fmla="val 178138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A23A907-97FB-4A8F-880A-DD77401C42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10048" y="4780992"/>
            <a:ext cx="546100" cy="546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57FC34C-E864-D3B7-D5F2-88A6CC9BE56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70153" y="1526033"/>
            <a:ext cx="5536397" cy="3935281"/>
          </a:xfrm>
        </p:spPr>
        <p:txBody>
          <a:bodyPr>
            <a:normAutofit/>
          </a:bodyPr>
          <a:lstStyle/>
          <a:p>
            <a:pPr fontAlgn="base"/>
            <a:r>
              <a:rPr lang="en-IN" dirty="0"/>
              <a:t>● Introduction To Change Sets And Deployment</a:t>
            </a:r>
            <a:br>
              <a:rPr lang="en-IN" dirty="0"/>
            </a:br>
            <a:r>
              <a:rPr lang="en-IN" dirty="0"/>
              <a:t>● Change Sets And Deployment</a:t>
            </a:r>
            <a:br>
              <a:rPr lang="en-IN" dirty="0"/>
            </a:br>
            <a:r>
              <a:rPr lang="en-IN" dirty="0"/>
              <a:t>● Outbound Change Sets</a:t>
            </a:r>
            <a:br>
              <a:rPr lang="en-IN" dirty="0"/>
            </a:br>
            <a:r>
              <a:rPr lang="en-IN" dirty="0"/>
              <a:t>● Inbound Change Sets</a:t>
            </a:r>
            <a:br>
              <a:rPr lang="en-IN" dirty="0"/>
            </a:br>
            <a:r>
              <a:rPr lang="en-IN" dirty="0"/>
              <a:t>● Deployment Settings</a:t>
            </a:r>
            <a:br>
              <a:rPr lang="en-IN" dirty="0"/>
            </a:br>
            <a:r>
              <a:rPr lang="en-IN" dirty="0"/>
              <a:t>● Deployment Status</a:t>
            </a:r>
            <a:br>
              <a:rPr lang="en-IN" dirty="0"/>
            </a:br>
            <a:r>
              <a:rPr lang="en-IN" dirty="0"/>
              <a:t>● Eclipse IDE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77535929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</TotalTime>
  <Words>1823</Words>
  <Application>Microsoft Office PowerPoint</Application>
  <PresentationFormat>Widescreen</PresentationFormat>
  <Paragraphs>60</Paragraphs>
  <Slides>30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5" baseType="lpstr">
      <vt:lpstr>Aptos</vt:lpstr>
      <vt:lpstr>Aptos Display</vt:lpstr>
      <vt:lpstr>Arial</vt:lpstr>
      <vt:lpstr>Calibri</vt:lpstr>
      <vt:lpstr>Office Theme</vt:lpstr>
      <vt:lpstr>Module 1: Salesforce Overview </vt:lpstr>
      <vt:lpstr>Module 2: Sales Cloud </vt:lpstr>
      <vt:lpstr>Module 3: Quote Templates </vt:lpstr>
      <vt:lpstr>Module 4: Service Cloud </vt:lpstr>
      <vt:lpstr>Module 5: AppExchange </vt:lpstr>
      <vt:lpstr>Module 6: Reports </vt:lpstr>
      <vt:lpstr>Module 7: Dashboards </vt:lpstr>
      <vt:lpstr>Module 8: Chatter </vt:lpstr>
      <vt:lpstr>Module 9: Role Hierarchy </vt:lpstr>
      <vt:lpstr>Module 10: Security Controls </vt:lpstr>
      <vt:lpstr>Module 11: Profiles </vt:lpstr>
      <vt:lpstr>Module 12: Data Management </vt:lpstr>
      <vt:lpstr>Module 13: Workflow Rules </vt:lpstr>
      <vt:lpstr>Module 14: Change Sets And Deployment </vt:lpstr>
      <vt:lpstr>Module 15: Communities </vt:lpstr>
      <vt:lpstr>Module 16: Help And Training </vt:lpstr>
      <vt:lpstr>Module 1: Field Types </vt:lpstr>
      <vt:lpstr>Module 2: Creating Buttons, Links, And Actions </vt:lpstr>
      <vt:lpstr>Module 3: Salesforce Objects </vt:lpstr>
      <vt:lpstr>Module 4: Chatter </vt:lpstr>
      <vt:lpstr>Module 5: Visual Workflow, Process Builder, And Schema Builder </vt:lpstr>
      <vt:lpstr>Module 6: Security Controls </vt:lpstr>
      <vt:lpstr>Module 7: Validation Rules </vt:lpstr>
      <vt:lpstr>Module 8: Data Management </vt:lpstr>
      <vt:lpstr>Module 9: Reports </vt:lpstr>
      <vt:lpstr>Module 10: Dashboards </vt:lpstr>
      <vt:lpstr>Module 11: Lightning Components </vt:lpstr>
      <vt:lpstr>Module 12: User Interface </vt:lpstr>
      <vt:lpstr>Module 13: Application Life Cycles </vt:lpstr>
      <vt:lpstr>Module 14: Change Sets And Deployment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Sahoo, Pranab</dc:creator>
  <cp:lastModifiedBy>Sahoo, Pranab</cp:lastModifiedBy>
  <cp:revision>23</cp:revision>
  <dcterms:created xsi:type="dcterms:W3CDTF">2025-11-03T08:24:08Z</dcterms:created>
  <dcterms:modified xsi:type="dcterms:W3CDTF">2025-11-03T09:22:08Z</dcterms:modified>
</cp:coreProperties>
</file>